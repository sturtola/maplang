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D4AF37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COMPUTACIÓN — TRABAJO INTEGRADOR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MapLang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Lenguaje de Dominio Específico para Describir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Videojuegos Dungeon-Crawler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1887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89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Riveros, Lautaro   ·   Riveros, Maximo   ·   Scetti, Santiago   ·   Turtola, Sabrina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50 — Proyecto SIC-UNNE   |   FaCENA, UNNE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MOTIVACIÓN Y ESCENARIO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¿Por qué un DSL para mapas de videojuegos?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232328"/>
          </a:solidFill>
          <a:ln w="1524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editores de mapas comerciales son herramientas gráficas propietarias: no se pueden versionar como texto, ni generar proceduralmente.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0" y="192024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232328"/>
          </a:solidFill>
          <a:ln w="15240">
            <a:solidFill>
              <a:srgbClr val="3DDC9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194560"/>
            <a:ext cx="502920" cy="5029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0" y="2834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propuesta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333756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MapLang: un lenguaje textual para describir habitaciones, atributos y conexiones de un dungeon-crawler, sin ambigüedades.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192024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232328"/>
          </a:solidFill>
          <a:ln w="1524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2194560"/>
            <a:ext cx="502920" cy="50292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0" y="2834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estándar real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55280" y="333756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Map Editor y el sistema de tilemaps de Godot resuelven problemas análogos en la industria.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Originalidad  ·  Riqueza gramatical  ·  Potencial visual  ·  Aplicabilidad real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MOTIVACIÓN Y ESCENARIO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Alcance de MapLang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Incluido en esta versión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✓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con nombre y dimensión N×M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✓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Habitaciones con coordenadas (x,y)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✓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atributos: TYPE, EXITS, ENEMY, LEVEL, ITEM, NPC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✓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 entre habitaciones, con etiqueta opcional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✓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de línea y espacios en blanco ignorados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6364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Excluido (versión actual)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63640" y="23317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✗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eventos / triggers dentro de salas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✗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entre tipos de habitación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✗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multi-piso (se tratan como mapas independientes)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97880" y="1874520"/>
            <a:ext cx="0" cy="3291840"/>
          </a:xfrm>
          <a:prstGeom prst="line">
            <a:avLst/>
          </a:prstGeom>
          <a:noFill/>
          <a:ln w="25400">
            <a:solidFill>
              <a:srgbClr val="2323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GRAMÁTICA FORMAL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Una GLC de 20 producciones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Libre de Contexto (GLC, Tipo 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producción: A → ω,  con A ∈ N  y  ω ∈ (N ∪ T)*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0515600" cy="310896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7772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terminal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Producción (extracto)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&lt;programa&gt;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9AA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&lt;mapa&gt;+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&lt;mapa&gt;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9AA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"MAP" &lt;cadena&gt; "SIZE" &lt;dimension&gt; "{" &lt;cuerpo&gt; "}"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&lt;sala&gt;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9AA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"ROOM" "(" &lt;ent&gt;"," &lt;ent&gt; ")" &lt;atributo&gt;+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&lt;atributo&gt;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9AA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&lt;tipo_sala&gt; | &lt;salidas&gt; | &lt;enemigo&gt; | &lt;nivel&gt; | &lt;item&gt; | &lt;npc&gt;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P16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&lt;conexion&gt;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9AA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"CONNECT" "("&lt;ent&gt;","&lt;ent&gt;")" "-&gt;" "("&lt;ent&gt;","&lt;ent&gt;")" ["via" &lt;cadena&gt;]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80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producciones completas en GRAMMAR.md y en el informe técnico (Tabla 1)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GRAMÁTICA FORMAL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Decisiones de diseño clave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515600" cy="1234440"/>
          </a:xfrm>
          <a:prstGeom prst="roundRect">
            <a:avLst>
              <a:gd name="adj" fmla="val 4444"/>
            </a:avLst>
          </a:prstGeom>
          <a:solidFill>
            <a:srgbClr val="232328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842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Palabras clave distintivas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04872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atributo (TYPE, EXITS, ENEMY...) arranca con una keyword única → FIRST() disjuntos, cero conflictos de predicción.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0515600" cy="1234440"/>
          </a:xfrm>
          <a:prstGeom prst="roundRect">
            <a:avLst>
              <a:gd name="adj" fmla="val 4444"/>
            </a:avLst>
          </a:prstGeom>
          <a:solidFill>
            <a:srgbClr val="232328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015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Orden libre de atributos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822192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&lt;atributo&gt;+ admite cualquier orden dentro de ROOM, sin ambigüedad: cada alternativa sigue siendo reconocible por su keyword.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0515600" cy="1234440"/>
          </a:xfrm>
          <a:prstGeom prst="roundRect">
            <a:avLst>
              <a:gd name="adj" fmla="val 4444"/>
            </a:avLst>
          </a:prstGeom>
          <a:solidFill>
            <a:srgbClr val="232328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8188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etiqueta opcional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239512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"via" &lt;cadena&gt; ] se resuelve con 1 token de lookahead: "via" no pertenece a FOLLOW(&lt;conexion&gt;).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GRAMÁTICA FORMAL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ambigüedad y condición LL(1)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232328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Sin ambigüedad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GLC es ambigua  ⟺  alguna sentencia admite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derivaciones por izquierda distintas.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&lt;sala&gt; | &lt;conexion&gt;  →  ROOM vs CONNECT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&lt;atributo&gt; (6 var.)  →  6 keywords distintas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&lt;tipo_valor&gt; y &lt;direccion&gt;  →  literales únicos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toda sentencia tiene un único árbol de derivación.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82880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232328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Condición LL(1)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63640" y="251460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FIRST(&lt;sala&gt;) = {ROOM}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FIRST(&lt;conexion&gt;) = {CONNECT}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disjuntos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FOLLOW(&lt;conexion&gt;)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{ROOM, CONNECT, "}"}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"via" ∉ FOLLOW(&lt;conexion&gt;)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parser descendente recursivo sin backtracking.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IMPLEMENTACIÓN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Arquitectura del sistema</a:t>
            </a:r>
            <a:endParaRPr lang="en-US" sz="3200" dirty="0"/>
          </a:p>
        </p:txBody>
      </p:sp>
      <p:pic>
        <p:nvPicPr>
          <p:cNvPr id="4" name="Image 0" descr="figs/fig_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1051560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754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pPr algn="ctr"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Implementación manual del lexer y el parser (sin Flex/PLY/ANTLR)  ·  Tests con unittest  ·  Render con matplotlib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src/lexer.py · parser.py · ast_nodes.py · semantic.py · renderer.py · main.py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IMPLEMENTACIÓN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Parser descendente recursivo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Cada no-terminal → una función Python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F5F5F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self.check_keyword("via"):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self.advance()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etiqueta_tok = self.expect_type(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"STRING", "una cadena")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etiqueta = etiqueta_tok.value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Manejo y recuperación de errores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ParseError con línea, columna y mensaje claro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esperaba ')' pero se encontró 'TYPE'"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pánico: sincroniza hasta ROOM/CONNECT/'}'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reportar varios errores en una sola pasada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IMPLEMENTACIÓN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 AST a las reglas semánticas</a:t>
            </a:r>
            <a:endParaRPr lang="en-US" sz="3200" dirty="0"/>
          </a:p>
        </p:txBody>
      </p:sp>
      <p:pic>
        <p:nvPicPr>
          <p:cNvPr id="4" name="Image 0" descr="figs/fig_ast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400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de la Mazmorra del Dragón (Graphviz)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26948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Validaciones semánticas (semantic.py)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69480" y="233172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Coordenadas dentro de SIZE N×M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Sin coordenadas de sala duplicadas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CONNECT referencia salas existentes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Atributos no se repiten en una sala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4251960"/>
            <a:ext cx="10515600" cy="1600200"/>
          </a:xfrm>
          <a:prstGeom prst="roundRect">
            <a:avLst>
              <a:gd name="adj" fmla="val 3429"/>
            </a:avLst>
          </a:prstGeom>
          <a:solidFill>
            <a:srgbClr val="23232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389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de salida ante errores semánticos múltiples: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4709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semántico (línea 6): ya existe una sala declarada en (0,0)...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semántico (línea 7): la sala (5,5) está fuera de los límites...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semántico (línea 8): CONNECT referencia la sala (9,9) inexistente...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DEMOSTRACIÓN EN VIVO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texto a mapa renderizado</a:t>
            </a:r>
            <a:endParaRPr lang="en-US" sz="3200" dirty="0"/>
          </a:p>
        </p:txBody>
      </p:sp>
      <p:pic>
        <p:nvPicPr>
          <p:cNvPr id="4" name="Image 0" descr="figs/fig_mapa_drag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10515600" cy="2240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51960"/>
            <a:ext cx="10515600" cy="457200"/>
          </a:xfrm>
          <a:prstGeom prst="rect">
            <a:avLst/>
          </a:prstGeom>
          <a:solidFill>
            <a:srgbClr val="0D0D0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main.py mazmorra.maplang --render mapa.png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89204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232328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0109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Caso 1 — Válida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53949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Mazmorra_del_Dragon (4 salas, 3 conexiones)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33088" y="489204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232328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61688" y="50109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Caso 2 — Válida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61688" y="53949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Cripta_Olvidada (grilla 3×3, 7 salas)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17536" y="489204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23232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46136" y="50109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Caso 3 — Inválida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46136" y="53949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Mapa_Roto → 3 errores sintácticos reportados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CASOS DE PRUEBA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 casos · 52 pruebas automatizadas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232328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válidos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8745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23232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9659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4C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64408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inválidos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0176" y="18745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2323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0176" y="19659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980176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95944" y="18745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232328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5944" y="19659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98D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695944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OK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0515600" cy="2103120"/>
        </p:xfrm>
        <a:graphic>
          <a:graphicData uri="http://schemas.openxmlformats.org/drawingml/2006/table">
            <a:tbl>
              <a:tblPr/>
              <a:tblGrid>
                <a:gridCol w="2926080"/>
                <a:gridCol w="621792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test_lexer.py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A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Tokens, errores léxicos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test_parser.py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A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Producciones, recuperación, no-ambigüedad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test_semantic.py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A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S1–S4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test_integration.py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A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end-to-end + render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DISCUSIÓN Y APRENDIZAJES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Dificultades y posibles extensiones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Dificultades encontradas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ambigüedad en &lt;atributo&gt;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resuelto con keywords distintivas por atributo.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recuperación de errores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sincronización en modo pánico hacia ROOM/CONNECT/'}'.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9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Extensiones futuras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63640" y="228600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&lt;evento&gt; anidado en &lt;sala&gt;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(lógica de triggers, sin romper LL(1))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alcanzabilidad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(verificar que todas las salas sean alcanzables desde la entrada)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aprendimos como equipo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800"/>
              </a:lnSpc>
              <a:buSzPct val="100000"/>
              <a:buChar char="➤"/>
            </a:pPr>
            <a:r>
              <a:rPr lang="en-US" sz="17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GLC de 20 producciones: libre de contexto, no ambigua y LL(1)</a:t>
            </a:r>
            <a:endParaRPr lang="en-US" sz="1700" dirty="0"/>
          </a:p>
          <a:p>
            <a:pPr marL="342900" indent="-342900">
              <a:lnSpc>
                <a:spcPts val="3800"/>
              </a:lnSpc>
              <a:buSzPct val="100000"/>
              <a:buChar char="➤"/>
            </a:pPr>
            <a:r>
              <a:rPr lang="en-US" sz="17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 y parser manuales, con recuperación de errores en una sola pasada</a:t>
            </a:r>
            <a:endParaRPr lang="en-US" sz="1700" dirty="0"/>
          </a:p>
          <a:p>
            <a:pPr marL="342900" indent="-342900">
              <a:lnSpc>
                <a:spcPts val="3800"/>
              </a:lnSpc>
              <a:buSzPct val="100000"/>
              <a:buChar char="➤"/>
            </a:pPr>
            <a:r>
              <a:rPr lang="en-US" sz="17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tipado + validación semántica + renderizado visual del mapa</a:t>
            </a:r>
            <a:endParaRPr lang="en-US" sz="1700" dirty="0"/>
          </a:p>
          <a:p>
            <a:pPr marL="342900" indent="-342900">
              <a:lnSpc>
                <a:spcPts val="3800"/>
              </a:lnSpc>
              <a:buSzPct val="100000"/>
              <a:buChar char="➤"/>
            </a:pPr>
            <a:r>
              <a:rPr lang="en-US" sz="17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pruebas automatizadas y 14 casos documentados, todos OK</a:t>
            </a:r>
            <a:endParaRPr lang="en-US" sz="1700" dirty="0"/>
          </a:p>
          <a:p>
            <a:pPr marL="342900" indent="-342900">
              <a:lnSpc>
                <a:spcPts val="3800"/>
              </a:lnSpc>
              <a:buSzPct val="100000"/>
              <a:buChar char="➤"/>
            </a:pPr>
            <a:r>
              <a:rPr lang="en-US" sz="17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decisiones gramaticales (keywords distintivas) temprano evita retrabajo costoso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623560"/>
            <a:ext cx="10515600" cy="18288"/>
          </a:xfrm>
          <a:prstGeom prst="rect">
            <a:avLst/>
          </a:prstGeom>
          <a:solidFill>
            <a:srgbClr val="2323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¡Gracias! Preguntas.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MapLang — Trabajo Integrador TC2026</dc:title>
  <dc:subject>PptxGenJS Presentation</dc:subject>
  <dc:creator>Riveros, Riveros, Scetti, Turtola</dc:creator>
  <cp:lastModifiedBy>Riveros, Riveros, Scetti, Turtola</cp:lastModifiedBy>
  <cp:revision>1</cp:revision>
  <dcterms:created xsi:type="dcterms:W3CDTF">2026-06-18T21:43:39Z</dcterms:created>
  <dcterms:modified xsi:type="dcterms:W3CDTF">2026-06-18T21:43:39Z</dcterms:modified>
</cp:coreProperties>
</file>